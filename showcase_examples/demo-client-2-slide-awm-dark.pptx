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wm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ver-logo-awm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84048"/>
            <a:ext cx="1325880" cy="2756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" y="1783080"/>
            <a:ext cx="6035040" cy="30632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09928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A34F"/>
                </a:solidFill>
                <a:latin typeface="Barlow Condensed"/>
              </a:rPr>
              <a:t>AWM RELATIONSHIP OS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0">
                <a:solidFill>
                  <a:srgbClr val="F5F1E8"/>
                </a:solidFill>
                <a:latin typeface="Cormorant Garamond"/>
              </a:rPr>
              <a:t>Demo Client - annual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200400"/>
            <a:ext cx="1417320" cy="18288"/>
          </a:xfrm>
          <a:prstGeom prst="rect">
            <a:avLst/>
          </a:prstGeom>
          <a:solidFill>
            <a:srgbClr val="C6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419856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D0C3"/>
                </a:solidFill>
                <a:latin typeface="Barlow"/>
              </a:defRPr>
            </a:pPr>
            <a:r>
              <a:t>Draft only. Relationship OS outputs are private operating aids for FC review; they are not auto-sent and are not compliance-approved client recommendations.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6318504"/>
            <a:ext cx="1115568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46520"/>
            <a:ext cx="9052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6A6A6"/>
                </a:solidFill>
                <a:latin typeface="JetBrains Mono"/>
              </a:rPr>
              <a:t>Private FC operating aid. Not financial advice. Review before any client-facing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868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A6A6A6"/>
                </a:solidFill>
                <a:latin typeface="JetBrains Mono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dy-bg-awm-dar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28600"/>
            <a:ext cx="3749039" cy="1729903"/>
          </a:xfrm>
          <a:prstGeom prst="rect">
            <a:avLst/>
          </a:prstGeom>
        </p:spPr>
      </p:pic>
      <p:pic>
        <p:nvPicPr>
          <p:cNvPr id="3" name="Picture 2" descr="cover-logo-awm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10896"/>
            <a:ext cx="868680" cy="180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932688"/>
            <a:ext cx="7315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F5F1E8"/>
                </a:solidFill>
                <a:latin typeface="Cormorant Garamond"/>
              </a:rPr>
              <a:t>Relationship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664208"/>
            <a:ext cx="1920240" cy="18288"/>
          </a:xfrm>
          <a:prstGeom prst="rect">
            <a:avLst/>
          </a:prstGeom>
          <a:solidFill>
            <a:srgbClr val="C6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01952"/>
            <a:ext cx="10652760" cy="4041648"/>
          </a:xfrm>
          <a:prstGeom prst="rect">
            <a:avLst/>
          </a:prstGeom>
          <a:solidFill>
            <a:srgbClr val="0E0E0E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57984"/>
            <a:ext cx="10021824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1E8"/>
                </a:solidFill>
                <a:latin typeface="Barlow"/>
              </a:defRPr>
            </a:pPr>
            <a:r>
              <a:t>Type: prospect</a:t>
            </a:r>
          </a:p>
          <a:p>
            <a:pPr>
              <a:spcAft>
                <a:spcPts val="800"/>
              </a:spcAft>
              <a:defRPr sz="1700">
                <a:solidFill>
                  <a:srgbClr val="F5F1E8"/>
                </a:solidFill>
                <a:latin typeface="Barlow"/>
              </a:defRPr>
            </a:pPr>
            <a:r>
              <a:t>Stage: warm</a:t>
            </a:r>
          </a:p>
          <a:p>
            <a:pPr>
              <a:spcAft>
                <a:spcPts val="800"/>
              </a:spcAft>
              <a:defRPr sz="1700">
                <a:solidFill>
                  <a:srgbClr val="F5F1E8"/>
                </a:solidFill>
                <a:latin typeface="Barlow"/>
              </a:defRPr>
            </a:pPr>
            <a:r>
              <a:t>Known concerns: not logged</a:t>
            </a:r>
          </a:p>
          <a:p>
            <a:pPr>
              <a:spcAft>
                <a:spcPts val="800"/>
              </a:spcAft>
              <a:defRPr sz="1700">
                <a:solidFill>
                  <a:srgbClr val="F5F1E8"/>
                </a:solidFill>
                <a:latin typeface="Barlow"/>
              </a:defRPr>
            </a:pPr>
            <a:r>
              <a:t>Family/policies: not logged / not logged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6318504"/>
            <a:ext cx="1115568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6446520"/>
            <a:ext cx="9052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6A6A6"/>
                </a:solidFill>
                <a:latin typeface="JetBrains Mono"/>
              </a:rPr>
              <a:t>Private FC operating aid. Not financial advice. Review before any client-facing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A6A6A6"/>
                </a:solidFill>
                <a:latin typeface="JetBrains Mono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